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Urbanist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izAAjRpDhIhCs91DOdjxjhrqfY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0b3def58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e0b3def583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17c457c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e17c457cd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851d6fb7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a851d6fb7a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851d6fb7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a851d6fb7a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851d6fb7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a851d6fb7a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5"/>
          <p:cNvSpPr txBox="1"/>
          <p:nvPr/>
        </p:nvSpPr>
        <p:spPr>
          <a:xfrm>
            <a:off x="5779262" y="6642100"/>
            <a:ext cx="65881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SLB-Private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jpg"/><Relationship Id="rId5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597975" y="21112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UENF / CCT / LENEP - INTRODUÇÃO AO PROJETO DE ENGENHARIA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92000" y="1913313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Modelagem Geoquímica </a:t>
            </a: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5350" y="4239975"/>
            <a:ext cx="11154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Executores: Davi, João Pedro &amp; Wellington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15350" y="5198600"/>
            <a:ext cx="11154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lang="en-US" sz="285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Clientes</a:t>
            </a:r>
            <a:r>
              <a:rPr b="0" i="0" lang="en-US" sz="28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285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Leonardo e Nicolau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295275" y="1124842"/>
            <a:ext cx="11601450" cy="807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Problema Proposto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021568" y="2458415"/>
            <a:ext cx="10148864" cy="3274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G2: Geoquímica - Perfil de Maturação Térmica (TOC)</a:t>
            </a:r>
            <a:br>
              <a:rPr b="0" i="0" lang="en-US" sz="2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0" i="0" lang="en-US" sz="26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Modelagem do Carbono Orgânico Total (TOC) para identificar janelas de geração. O software deve processar dados de calha (ruidosos) via média móvel estatística e realizar interpolação polinomial de 3º grau para definir o gradiente de maturação.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/>
        </p:nvSpPr>
        <p:spPr>
          <a:xfrm>
            <a:off x="571500" y="2109936"/>
            <a:ext cx="55006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C++ &amp; Eficiência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571500" y="2662386"/>
            <a:ext cx="5238750" cy="7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Nossa fundação tecnológica é o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C++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Escolha estratégica para garantir: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90562" y="3347355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Baixo consumo energético (ESG)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702468" y="3765029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Gestão manual de recursos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702468" y="4250905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Interface CLI Multiplataforma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2527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6149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97709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Plataforma e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1225" y="2135313"/>
            <a:ext cx="5238750" cy="258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e0b3def583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227962"/>
            <a:ext cx="3255750" cy="521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e0b3def583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3376" y="1227950"/>
            <a:ext cx="5288540" cy="521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e0b3def583_1_0"/>
          <p:cNvSpPr txBox="1"/>
          <p:nvPr/>
        </p:nvSpPr>
        <p:spPr>
          <a:xfrm>
            <a:off x="5930600" y="486175"/>
            <a:ext cx="2887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Cas</a:t>
            </a: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</a:t>
            </a: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de usos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e0b3def583_1_0"/>
          <p:cNvSpPr txBox="1"/>
          <p:nvPr/>
        </p:nvSpPr>
        <p:spPr>
          <a:xfrm>
            <a:off x="824425" y="486175"/>
            <a:ext cx="3333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Leitura de Dados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e0b3def583_1_0"/>
          <p:cNvSpPr/>
          <p:nvPr/>
        </p:nvSpPr>
        <p:spPr>
          <a:xfrm>
            <a:off x="704700" y="487686"/>
            <a:ext cx="573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0b3def583_1_0"/>
          <p:cNvSpPr/>
          <p:nvPr/>
        </p:nvSpPr>
        <p:spPr>
          <a:xfrm>
            <a:off x="5743375" y="487686"/>
            <a:ext cx="573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17c457cd1_0_0"/>
          <p:cNvSpPr txBox="1"/>
          <p:nvPr/>
        </p:nvSpPr>
        <p:spPr>
          <a:xfrm>
            <a:off x="1157950" y="457475"/>
            <a:ext cx="639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Diagrama de Classes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e17c457cd1_0_0"/>
          <p:cNvSpPr/>
          <p:nvPr/>
        </p:nvSpPr>
        <p:spPr>
          <a:xfrm>
            <a:off x="1038225" y="458986"/>
            <a:ext cx="573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3e17c457cd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225" y="1671625"/>
            <a:ext cx="10115550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5220"/>
            <a:ext cx="5238750" cy="2661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15220"/>
            <a:ext cx="5238750" cy="266119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962025" y="3410545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Média Móvel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962025" y="3962995"/>
            <a:ext cx="44577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Filtro de suavização para remoção de ruídos de contaminação típicos de amostras de calha (Cuttings).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6772275" y="3410545"/>
            <a:ext cx="468058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Polinômio de 3º Grau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6772275" y="3962995"/>
            <a:ext cx="44577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Cálculo do gradiente de maturação para mapear as tendências de aumento térmico com a profundidade.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Filtros e Interpolação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571500" y="919311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Janelas de Geração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571500" y="1805136"/>
            <a:ext cx="4953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modelagem matemática permite ao geólogo visualizar instantaneamente as zonas de interesse econômico: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571500" y="3066157"/>
            <a:ext cx="4953000" cy="35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Janela de Óleo:</a:t>
            </a:r>
            <a:r>
              <a:rPr b="0" i="0" lang="en-US" sz="16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Sucesso de maturação inicial.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571500" y="3502372"/>
            <a:ext cx="4953000" cy="35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Janela de Gás:</a:t>
            </a:r>
            <a:r>
              <a:rPr b="0" i="0" lang="en-US" sz="165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Fase de craqueamento térmico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3056" y="0"/>
            <a:ext cx="602894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851d6fb7a_0_6"/>
          <p:cNvSpPr txBox="1"/>
          <p:nvPr/>
        </p:nvSpPr>
        <p:spPr>
          <a:xfrm>
            <a:off x="7318425" y="1592625"/>
            <a:ext cx="411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Orquestração de Objetos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a851d6fb7a_0_6"/>
          <p:cNvSpPr txBox="1"/>
          <p:nvPr/>
        </p:nvSpPr>
        <p:spPr>
          <a:xfrm>
            <a:off x="7659976" y="2135138"/>
            <a:ext cx="43416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00">
                <a:solidFill>
                  <a:schemeClr val="lt1"/>
                </a:solidFill>
              </a:rPr>
              <a:t>A interação começa na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Interface</a:t>
            </a:r>
            <a:r>
              <a:rPr lang="en-US" sz="1600">
                <a:solidFill>
                  <a:schemeClr val="dk1"/>
                </a:solidFill>
              </a:rPr>
              <a:t>,</a:t>
            </a:r>
            <a:r>
              <a:rPr lang="en-US" sz="1600">
                <a:solidFill>
                  <a:schemeClr val="lt1"/>
                </a:solidFill>
              </a:rPr>
              <a:t> que delega a carga de dados brutos ao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DataLoader</a:t>
            </a:r>
            <a:r>
              <a:rPr lang="en-US" sz="1600">
                <a:solidFill>
                  <a:schemeClr val="dk1"/>
                </a:solidFill>
              </a:rPr>
              <a:t>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a851d6fb7a_0_6"/>
          <p:cNvSpPr txBox="1"/>
          <p:nvPr/>
        </p:nvSpPr>
        <p:spPr>
          <a:xfrm>
            <a:off x="7318426" y="3244375"/>
            <a:ext cx="537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Pipeline de Transformação: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a851d6fb7a_0_6"/>
          <p:cNvSpPr txBox="1"/>
          <p:nvPr/>
        </p:nvSpPr>
        <p:spPr>
          <a:xfrm>
            <a:off x="7659974" y="3786895"/>
            <a:ext cx="28830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337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Urbanist"/>
              <a:buChar char="●"/>
            </a:pPr>
            <a:r>
              <a:rPr lang="en-US" sz="16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Validação </a:t>
            </a:r>
            <a:endParaRPr sz="16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337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Urbanist"/>
              <a:buChar char="●"/>
            </a:pPr>
            <a:r>
              <a:rPr lang="en-US" sz="16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Filtragem (Média Móvel) </a:t>
            </a:r>
            <a:endParaRPr sz="16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337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50"/>
              <a:buFont typeface="Urbanist"/>
              <a:buChar char="●"/>
            </a:pPr>
            <a:r>
              <a:rPr lang="en-US" sz="16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Modelagem (Regressão) </a:t>
            </a:r>
            <a:endParaRPr sz="16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g3a851d6fb7a_0_6"/>
          <p:cNvSpPr txBox="1"/>
          <p:nvPr/>
        </p:nvSpPr>
        <p:spPr>
          <a:xfrm>
            <a:off x="282650" y="262072"/>
            <a:ext cx="11052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5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Fluxo de Execução e Ordem Cronológica (Diagrama de Sequência) 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a851d6fb7a_0_6"/>
          <p:cNvSpPr/>
          <p:nvPr/>
        </p:nvSpPr>
        <p:spPr>
          <a:xfrm>
            <a:off x="152400" y="178750"/>
            <a:ext cx="330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a851d6fb7a_0_6"/>
          <p:cNvSpPr txBox="1"/>
          <p:nvPr/>
        </p:nvSpPr>
        <p:spPr>
          <a:xfrm>
            <a:off x="2878625" y="5573725"/>
            <a:ext cx="7448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88888"/>
                </a:solidFill>
              </a:rPr>
              <a:t>Sincronismo: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900">
                <a:solidFill>
                  <a:schemeClr val="lt1"/>
                </a:solidFill>
              </a:rPr>
              <a:t>O processamento é estruturado de forma síncrona para garantir que o gradiente de maturação seja gerado apenas sobre dados previamente saneados. </a:t>
            </a:r>
            <a:endParaRPr b="1" sz="1900">
              <a:solidFill>
                <a:schemeClr val="lt1"/>
              </a:solidFill>
            </a:endParaRPr>
          </a:p>
        </p:txBody>
      </p:sp>
      <p:pic>
        <p:nvPicPr>
          <p:cNvPr id="161" name="Google Shape;161;g3a851d6fb7a_0_6" title="Diagrama de sequência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575" y="986300"/>
            <a:ext cx="6576799" cy="43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g3a851d6fb7a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05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a851d6fb7a_0_33"/>
          <p:cNvSpPr txBox="1"/>
          <p:nvPr/>
        </p:nvSpPr>
        <p:spPr>
          <a:xfrm>
            <a:off x="633200" y="438311"/>
            <a:ext cx="1140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0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Tolerância a Falhas e Ciclo de Vida (Máquina de Estados)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851d6fb7a_0_33"/>
          <p:cNvSpPr/>
          <p:nvPr/>
        </p:nvSpPr>
        <p:spPr>
          <a:xfrm>
            <a:off x="394400" y="339761"/>
            <a:ext cx="573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a851d6fb7a_0_33" title="Diagrama de maquina de estado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425" y="2261273"/>
            <a:ext cx="3485050" cy="40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a851d6fb7a_0_33" title="Diagrama de sequência error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6350" y="2261276"/>
            <a:ext cx="4390100" cy="35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a851d6fb7a_0_33"/>
          <p:cNvSpPr txBox="1"/>
          <p:nvPr/>
        </p:nvSpPr>
        <p:spPr>
          <a:xfrm>
            <a:off x="0" y="1168213"/>
            <a:ext cx="6269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0B981"/>
                </a:solidFill>
              </a:rPr>
              <a:t>Tratamento de Exceções:</a:t>
            </a:r>
            <a:r>
              <a:rPr b="1" lang="en-US" sz="1900">
                <a:solidFill>
                  <a:srgbClr val="94A3B8"/>
                </a:solidFill>
                <a:highlight>
                  <a:srgbClr val="10B981"/>
                </a:highlight>
              </a:rPr>
              <a:t> </a:t>
            </a:r>
            <a:r>
              <a:rPr b="1" lang="en-US" sz="1900">
                <a:solidFill>
                  <a:srgbClr val="94A3B8"/>
                </a:solidFill>
              </a:rPr>
              <a:t>Implementação de fluxos alternativos </a:t>
            </a:r>
            <a:endParaRPr b="1" sz="1900">
              <a:solidFill>
                <a:srgbClr val="94A3B8"/>
              </a:solidFill>
            </a:endParaRPr>
          </a:p>
        </p:txBody>
      </p:sp>
      <p:sp>
        <p:nvSpPr>
          <p:cNvPr id="172" name="Google Shape;172;g3a851d6fb7a_0_33"/>
          <p:cNvSpPr txBox="1"/>
          <p:nvPr/>
        </p:nvSpPr>
        <p:spPr>
          <a:xfrm>
            <a:off x="3875850" y="1937713"/>
            <a:ext cx="36105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B981"/>
                </a:solidFill>
              </a:rPr>
              <a:t>Estados Finitos:</a:t>
            </a:r>
            <a:endParaRPr b="1">
              <a:solidFill>
                <a:srgbClr val="10B98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Char char="●"/>
            </a:pPr>
            <a:r>
              <a:rPr b="1" lang="en-US">
                <a:solidFill>
                  <a:srgbClr val="888888"/>
                </a:solidFill>
              </a:rPr>
              <a:t>Estado de Espera:</a:t>
            </a:r>
            <a:r>
              <a:rPr b="1" lang="en-US">
                <a:solidFill>
                  <a:srgbClr val="888888"/>
                </a:solidFill>
              </a:rPr>
              <a:t> Sistema aguarda input sem consumir recursos excessivos.</a:t>
            </a:r>
            <a:endParaRPr b="1">
              <a:solidFill>
                <a:srgbClr val="888888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Char char="●"/>
            </a:pPr>
            <a:r>
              <a:rPr b="1" lang="en-US">
                <a:solidFill>
                  <a:srgbClr val="888888"/>
                </a:solidFill>
              </a:rPr>
              <a:t>Estado de Erro:</a:t>
            </a:r>
            <a:r>
              <a:rPr b="1" lang="en-US">
                <a:solidFill>
                  <a:srgbClr val="888888"/>
                </a:solidFill>
              </a:rPr>
              <a:t> Em caso de falha, o sistema executa um "rollback" para um estado seguro, emitindo alertas claros ao usuário em vez de encerrar a execução (crash).</a:t>
            </a:r>
            <a:endParaRPr b="1">
              <a:solidFill>
                <a:srgbClr val="888888"/>
              </a:solidFill>
            </a:endParaRPr>
          </a:p>
        </p:txBody>
      </p:sp>
      <p:sp>
        <p:nvSpPr>
          <p:cNvPr id="173" name="Google Shape;173;g3a851d6fb7a_0_33"/>
          <p:cNvSpPr txBox="1"/>
          <p:nvPr/>
        </p:nvSpPr>
        <p:spPr>
          <a:xfrm>
            <a:off x="3988525" y="4764900"/>
            <a:ext cx="3000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B981"/>
                </a:solidFill>
              </a:rPr>
              <a:t>Robustez Geológica:</a:t>
            </a:r>
            <a:r>
              <a:rPr b="1" lang="en-US">
                <a:solidFill>
                  <a:srgbClr val="10B981"/>
                </a:solidFill>
              </a:rPr>
              <a:t> </a:t>
            </a:r>
            <a:endParaRPr b="1">
              <a:solidFill>
                <a:srgbClr val="10B98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4A3B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888888"/>
                </a:solidFill>
              </a:rPr>
              <a:t>O software impede o processamento de dados que fujam dos limites físicos da bacia sedimentar analisada. </a:t>
            </a:r>
            <a:endParaRPr b="1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Métricas e RNF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150" y="1743075"/>
            <a:ext cx="10438599" cy="373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 txBox="1"/>
          <p:nvPr/>
        </p:nvSpPr>
        <p:spPr>
          <a:xfrm>
            <a:off x="762000" y="919311"/>
            <a:ext cx="1140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11" title="dd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00" y="190575"/>
            <a:ext cx="6482625" cy="6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 txBox="1"/>
          <p:nvPr/>
        </p:nvSpPr>
        <p:spPr>
          <a:xfrm>
            <a:off x="6716500" y="391525"/>
            <a:ext cx="5241000" cy="57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Funcionamento do Sistema</a:t>
            </a:r>
            <a:endParaRPr b="1" sz="3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Entrada de dados geoquímicos em .csv</a:t>
            </a:r>
            <a:b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Parser realiza leitura, validação e suavização</a:t>
            </a:r>
            <a:b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Logger monitora latência e uso de RAM</a:t>
            </a:r>
            <a:b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Motor de Cálculo executa modelagem polinomial</a:t>
            </a:r>
            <a:b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Gerador de Relatórios organiza os resultados</a:t>
            </a:r>
            <a:b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Exportação final em .json</a:t>
            </a:r>
            <a:b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• Armazenamento local de dados e relatórios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Requisitos Não Funcionais</a:t>
            </a:r>
            <a:endParaRPr b="1" sz="3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Latência &lt; 0,20 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RAM &lt; 32 MB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/>
        </p:nvSpPr>
        <p:spPr>
          <a:xfrm>
            <a:off x="7611650" y="438925"/>
            <a:ext cx="45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Implantação Ágil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7611650" y="1036700"/>
            <a:ext cx="4362300" cy="5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b="1" lang="en-US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mplantação e Operação Binário Nativo: Entrega como um executável único (.exe), eliminando a necessidade de instalar Python, Java ou bibliotecas externas.</a:t>
            </a:r>
            <a:endParaRPr b="1"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Processamento Local: Execução 100% offline na estação de trabalho, garantindo a segurança de dados geoquímicos sensíveis.</a:t>
            </a:r>
            <a:endParaRPr b="1"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Zero Dependências: Arquitetura estática que evita conflitos de versão e facilita o uso em computadores de campo (sondas).</a:t>
            </a:r>
            <a:endParaRPr b="1"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Pronto para Automação: Compatível com scripts Bash e Python para processamento em lote de múltiplos poços.</a:t>
            </a:r>
            <a:endParaRPr b="1"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Backup Integrado: Suporte à sincronização em rede para armazenamento seguro de relatórios e dados históricos.</a:t>
            </a:r>
            <a:endParaRPr b="1"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sz="16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7611650" y="3777361"/>
            <a:ext cx="4362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7611650" y="4630084"/>
            <a:ext cx="4362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0" title="Diagrama de implantação 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8925"/>
            <a:ext cx="7372625" cy="611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/>
        </p:nvSpPr>
        <p:spPr>
          <a:xfrm>
            <a:off x="762000" y="919311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Backlog para o Dia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9975" y="1720911"/>
            <a:ext cx="497205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g3a851d6fb7a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a851d6fb7a_0_53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a851d6fb7a_0_53"/>
          <p:cNvSpPr/>
          <p:nvPr/>
        </p:nvSpPr>
        <p:spPr>
          <a:xfrm>
            <a:off x="571500" y="919311"/>
            <a:ext cx="573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g3a851d6fb7a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5700" y="1843800"/>
            <a:ext cx="8460600" cy="37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/>
        </p:nvSpPr>
        <p:spPr>
          <a:xfrm>
            <a:off x="628650" y="355861"/>
            <a:ext cx="114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6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Roadmap Técnico e Escalabilidade do Projeto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491000" y="303499"/>
            <a:ext cx="57300" cy="504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7" title="Diagrama de implantação 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3788" y="1332763"/>
            <a:ext cx="707707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209275" y="4250025"/>
            <a:ext cx="35256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B981"/>
                </a:solidFill>
              </a:rPr>
              <a:t>Curto Prazo (Refatoração):</a:t>
            </a:r>
            <a:endParaRPr b="1">
              <a:solidFill>
                <a:srgbClr val="10B98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Char char="●"/>
            </a:pPr>
            <a:r>
              <a:rPr b="1" lang="en-US">
                <a:solidFill>
                  <a:srgbClr val="888888"/>
                </a:solidFill>
              </a:rPr>
              <a:t>Implementação de Testes Unitários (TDD)</a:t>
            </a:r>
            <a:endParaRPr b="1">
              <a:solidFill>
                <a:srgbClr val="888888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Char char="●"/>
            </a:pPr>
            <a:r>
              <a:rPr b="1" lang="en-US">
                <a:solidFill>
                  <a:srgbClr val="888888"/>
                </a:solidFill>
              </a:rPr>
              <a:t>Persistência de dados em Banco de Dados SQL </a:t>
            </a:r>
            <a:endParaRPr b="1">
              <a:solidFill>
                <a:srgbClr val="888888"/>
              </a:solidFill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8322975" y="4250025"/>
            <a:ext cx="3831600" cy="16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B981"/>
                </a:solidFill>
              </a:rPr>
              <a:t>Longo Prazo (Evolução Científica):</a:t>
            </a:r>
            <a:endParaRPr b="1">
              <a:solidFill>
                <a:srgbClr val="10B98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rgbClr val="888888"/>
                </a:solidFill>
              </a:rPr>
              <a:t>Suporte a modelos de </a:t>
            </a:r>
            <a:r>
              <a:rPr b="1" i="1" lang="en-US">
                <a:solidFill>
                  <a:srgbClr val="888888"/>
                </a:solidFill>
              </a:rPr>
              <a:t>Machine Learning</a:t>
            </a:r>
            <a:r>
              <a:rPr b="1" lang="en-US">
                <a:solidFill>
                  <a:srgbClr val="888888"/>
                </a:solidFill>
              </a:rPr>
              <a:t> para predição de TOC em intervalos sem amostragem física.</a:t>
            </a:r>
            <a:endParaRPr b="1">
              <a:solidFill>
                <a:srgbClr val="88888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3622200" y="4395525"/>
            <a:ext cx="4443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B981"/>
                </a:solidFill>
              </a:rPr>
              <a:t>Médio Prazo (Interface e Integração):</a:t>
            </a:r>
            <a:endParaRPr b="1">
              <a:solidFill>
                <a:srgbClr val="10B98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400"/>
              <a:buChar char="●"/>
            </a:pPr>
            <a:r>
              <a:rPr b="1" lang="en-US">
                <a:solidFill>
                  <a:srgbClr val="888888"/>
                </a:solidFill>
              </a:rPr>
              <a:t>Migração da interface CLI para uma </a:t>
            </a:r>
            <a:r>
              <a:rPr b="1" lang="en-US">
                <a:solidFill>
                  <a:srgbClr val="888888"/>
                </a:solidFill>
              </a:rPr>
              <a:t>GUI (Interface Gráfica)</a:t>
            </a:r>
            <a:r>
              <a:rPr b="1" lang="en-US">
                <a:solidFill>
                  <a:srgbClr val="888888"/>
                </a:solidFill>
              </a:rPr>
              <a:t> utilizando o framework Qt.</a:t>
            </a:r>
            <a:endParaRPr b="1">
              <a:solidFill>
                <a:srgbClr val="888888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Char char="●"/>
            </a:pPr>
            <a:r>
              <a:rPr b="1" lang="en-US">
                <a:solidFill>
                  <a:srgbClr val="888888"/>
                </a:solidFill>
              </a:rPr>
              <a:t>Persistência de dados em Banco de Dados SQL</a:t>
            </a:r>
            <a:r>
              <a:rPr b="1" lang="en-US" sz="1100">
                <a:solidFill>
                  <a:srgbClr val="888888"/>
                </a:solidFill>
              </a:rPr>
              <a:t> </a:t>
            </a:r>
            <a:endParaRPr b="1" sz="110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SLB-Private</vt:lpwstr>
  </property>
</Properties>
</file>